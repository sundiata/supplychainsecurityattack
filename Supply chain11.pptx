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9" r:id="rId3"/>
    <p:sldId id="270" r:id="rId4"/>
    <p:sldId id="271" r:id="rId5"/>
    <p:sldId id="267" r:id="rId6"/>
    <p:sldId id="268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nObKVKqLLndvPQgc3dqXFUiU3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F73EDF-D793-4C17-B1E9-7D27642F8886}">
  <a:tblStyle styleId="{7CF73EDF-D793-4C17-B1E9-7D27642F88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2"/>
    <p:restoredTop sz="94787"/>
  </p:normalViewPr>
  <p:slideViewPr>
    <p:cSldViewPr snapToGrid="0">
      <p:cViewPr>
        <p:scale>
          <a:sx n="173" d="100"/>
          <a:sy n="173" d="100"/>
        </p:scale>
        <p:origin x="-32" y="-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447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1" name="Google Shape;61;p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6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5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8" name="Google Shape;38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7193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71446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1513739" y="3290404"/>
            <a:ext cx="66759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Supply Chain Attack</a:t>
            </a:r>
            <a:br>
              <a:rPr lang="en-US" sz="4400" dirty="0"/>
            </a:br>
            <a:r>
              <a:rPr lang="en-US" sz="4400" b="1" dirty="0">
                <a:solidFill>
                  <a:srgbClr val="FFFFFF"/>
                </a:solidFill>
              </a:rPr>
              <a:t>Simulation &amp; </a:t>
            </a:r>
            <a:r>
              <a:rPr lang="en-US" sz="4400" b="1" dirty="0" err="1">
                <a:solidFill>
                  <a:srgbClr val="FFFFFF"/>
                </a:solidFill>
              </a:rPr>
              <a:t>Defence</a:t>
            </a:r>
            <a:r>
              <a:rPr lang="en-US" sz="4400" b="1" dirty="0">
                <a:solidFill>
                  <a:srgbClr val="FFFFFF"/>
                </a:solidFill>
              </a:rPr>
              <a:t> Platform</a:t>
            </a:r>
            <a:br>
              <a:rPr lang="en-US" sz="4400" dirty="0"/>
            </a:br>
            <a:r>
              <a:rPr lang="en-US" sz="1800" i="1" dirty="0">
                <a:solidFill>
                  <a:srgbClr val="CADCFC"/>
                </a:solidFill>
              </a:rPr>
              <a:t>3 attack simulations  ·  3 </a:t>
            </a:r>
            <a:r>
              <a:rPr lang="en-US" sz="1800" i="1" dirty="0" err="1">
                <a:solidFill>
                  <a:srgbClr val="CADCFC"/>
                </a:solidFill>
              </a:rPr>
              <a:t>defence</a:t>
            </a:r>
            <a:r>
              <a:rPr lang="en-US" sz="1800" i="1" dirty="0">
                <a:solidFill>
                  <a:srgbClr val="CADCFC"/>
                </a:solidFill>
              </a:rPr>
              <a:t> tools  ·  live SIEM dashboard</a:t>
            </a:r>
            <a:br>
              <a:rPr lang="en-US" sz="1800" dirty="0"/>
            </a:br>
            <a:endParaRPr sz="1650" dirty="0"/>
          </a:p>
        </p:txBody>
      </p:sp>
      <p:sp>
        <p:nvSpPr>
          <p:cNvPr id="76" name="Google Shape;76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77" name="Google Shape;77;p1"/>
          <p:cNvSpPr txBox="1"/>
          <p:nvPr/>
        </p:nvSpPr>
        <p:spPr>
          <a:xfrm>
            <a:off x="0" y="4710600"/>
            <a:ext cx="39735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57534" y="3571509"/>
            <a:ext cx="2555300" cy="107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"/>
          <p:cNvSpPr txBox="1"/>
          <p:nvPr/>
        </p:nvSpPr>
        <p:spPr>
          <a:xfrm>
            <a:off x="760289" y="4651190"/>
            <a:ext cx="1506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10 slides</a:t>
            </a:r>
            <a:endParaRPr sz="1800" b="0" i="0" u="none" strike="noStrike" cap="non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PLATFORM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788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788920" cy="109728"/>
          </a:xfrm>
          <a:prstGeom prst="rect">
            <a:avLst/>
          </a:prstGeom>
          <a:solidFill>
            <a:srgbClr val="9C254D"/>
          </a:solidFill>
          <a:ln w="12700">
            <a:solidFill>
              <a:srgbClr val="9C25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254D"/>
                </a:solidFill>
              </a:rPr>
              <a:t>  ATTACKS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</a:rPr>
              <a:t>ATK1 — Typosquatting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crypt0 homoglyph &amp; Levenshtein-1 fakes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8775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</a:rPr>
              <a:t>ATK2 — Dependency Confusion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internal-utils 9.9.9 on public PyPI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66744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</a:rPr>
              <a:t>ATK3 — CI/CD Injection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Unpinned GitHub Action hijacked post-publish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2788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896112"/>
            <a:ext cx="2788920" cy="10972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0241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949AB"/>
                </a:solidFill>
              </a:rPr>
              <a:t> DEFENCES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</a:rPr>
              <a:t>DEF1 — Name Checker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Levenshtein + homoglyph vs known-good 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58775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</a:rPr>
              <a:t>DEF2 — SafePip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Intercepts pip; flags wrong-registry resolves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666744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</a:rPr>
              <a:t>DEF3 — Provenance Verifier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Hash + SLSA provenance; flags unpinned refs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896112"/>
            <a:ext cx="2788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896112"/>
            <a:ext cx="27889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10241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</a:rPr>
              <a:t> SIEM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5087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</a:rPr>
              <a:t>Live KPI Cards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Total events, block rate, missed, triage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58775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</a:rPr>
              <a:t>Event Feed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Colour-coded severity, timestamps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666744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</a:rPr>
              <a:t>Visualisations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Block-rate gauges, 24 hr heatmap, triage queue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SIEM DASHBOARD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530352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6440" y="914400"/>
            <a:ext cx="1005840" cy="347472"/>
          </a:xfrm>
          <a:prstGeom prst="rect">
            <a:avLst/>
          </a:prstGeom>
          <a:solidFill>
            <a:srgbClr val="3949A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Tier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03720" y="9144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Live KPI cards (total / blocked / missed / triage)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Colour-coded event feed with package names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Block-rate gauges per DEF tool</a:t>
            </a:r>
          </a:p>
        </p:txBody>
      </p:sp>
      <p:sp>
        <p:nvSpPr>
          <p:cNvPr id="7" name="Text 4"/>
          <p:cNvSpPr/>
          <p:nvPr/>
        </p:nvSpPr>
        <p:spPr>
          <a:xfrm>
            <a:off x="5806440" y="2286000"/>
            <a:ext cx="1005840" cy="347472"/>
          </a:xfrm>
          <a:prstGeom prst="rect">
            <a:avLst/>
          </a:prstGeom>
          <a:solidFill>
            <a:srgbClr val="9C254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Tier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03720" y="22860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Triage queue with Threat / FP buttons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Module health panel with latency per tool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Activity heatmap — 24 hr intensity grid</a:t>
            </a:r>
          </a:p>
        </p:txBody>
      </p:sp>
      <p:sp>
        <p:nvSpPr>
          <p:cNvPr id="9" name="Text 6"/>
          <p:cNvSpPr/>
          <p:nvPr/>
        </p:nvSpPr>
        <p:spPr>
          <a:xfrm>
            <a:off x="5806440" y="3657600"/>
            <a:ext cx="100584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Tier 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03720" y="36576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Scenario selector (ATK1/ATK2/ATK3 toggle)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Attack replay slider — scrub event timeline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Dark mode · PDF export</a:t>
            </a:r>
          </a:p>
        </p:txBody>
      </p:sp>
      <p:sp>
        <p:nvSpPr>
          <p:cNvPr id="11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90CD"/>
                </a:solidFill>
              </a:rPr>
              <a:t>Single React SPA  ·  polls /api/events every 2 s  ·  no WebSocket complexity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&amp; KEY FACTS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3990"/>
                </a:solidFill>
              </a:rPr>
              <a:t>Build Sequence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" cy="32004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</a:rPr>
              <a:t>Python virtual env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371600"/>
            <a:ext cx="201168" cy="320040"/>
          </a:xfrm>
          <a:prstGeom prst="rect">
            <a:avLst/>
          </a:prstGeom>
          <a:solidFill>
            <a:srgbClr val="3949AB">
              <a:alpha val="70000"/>
            </a:srgbClr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0" y="13716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INF-01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0040" y="2221992"/>
            <a:ext cx="274320" cy="32004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2219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" y="2221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</a:rPr>
              <a:t>Local mock registry 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2221992"/>
            <a:ext cx="201168" cy="320040"/>
          </a:xfrm>
          <a:prstGeom prst="rect">
            <a:avLst/>
          </a:prstGeom>
          <a:solidFill>
            <a:srgbClr val="3949AB">
              <a:alpha val="70000"/>
            </a:srgbClr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77440" y="222199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INF-02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3072384"/>
            <a:ext cx="274320" cy="32004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0723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" y="30723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</a:rPr>
              <a:t>Log store + event schema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3072384"/>
            <a:ext cx="201168" cy="320040"/>
          </a:xfrm>
          <a:prstGeom prst="rect">
            <a:avLst/>
          </a:prstGeom>
          <a:solidFill>
            <a:srgbClr val="3949AB">
              <a:alpha val="70000"/>
            </a:srgbClr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77440" y="3072384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INF-03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3922776"/>
            <a:ext cx="274320" cy="32004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9227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" y="392277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</a:rPr>
              <a:t>Malicious Package Builder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3922776"/>
            <a:ext cx="201168" cy="320040"/>
          </a:xfrm>
          <a:prstGeom prst="rect">
            <a:avLst/>
          </a:prstGeom>
          <a:solidFill>
            <a:srgbClr val="3949AB">
              <a:alpha val="70000"/>
            </a:srgbClr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77440" y="3922776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MPB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651760" y="1371600"/>
            <a:ext cx="274320" cy="32004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51760" y="1371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80944" y="1371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</a:rPr>
              <a:t>Typosquatting ↔ Name Checker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371600"/>
            <a:ext cx="201168" cy="320040"/>
          </a:xfrm>
          <a:prstGeom prst="rect">
            <a:avLst/>
          </a:prstGeom>
          <a:solidFill>
            <a:srgbClr val="3949AB">
              <a:alpha val="70000"/>
            </a:srgbClr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13716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ATK1+DE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651760" y="2221992"/>
            <a:ext cx="274320" cy="32004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0" y="22219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80944" y="2221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</a:rPr>
              <a:t>Dep. Confusion ↔ SafePip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221992"/>
            <a:ext cx="201168" cy="320040"/>
          </a:xfrm>
          <a:prstGeom prst="rect">
            <a:avLst/>
          </a:prstGeom>
          <a:solidFill>
            <a:srgbClr val="3949AB">
              <a:alpha val="70000"/>
            </a:srgbClr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222199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ATK2+DE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651760" y="3072384"/>
            <a:ext cx="274320" cy="32004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51760" y="30723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80944" y="30723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</a:rPr>
              <a:t>CI Injection ↔ Provenance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072384"/>
            <a:ext cx="201168" cy="320040"/>
          </a:xfrm>
          <a:prstGeom prst="rect">
            <a:avLst/>
          </a:prstGeom>
          <a:solidFill>
            <a:srgbClr val="3949AB">
              <a:alpha val="70000"/>
            </a:srgbClr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3072384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ATK3+DE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651760" y="3922776"/>
            <a:ext cx="274320" cy="32004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651760" y="39227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80944" y="392277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</a:rPr>
              <a:t>Dashboard &amp; visualisations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3922776"/>
            <a:ext cx="201168" cy="320040"/>
          </a:xfrm>
          <a:prstGeom prst="rect">
            <a:avLst/>
          </a:prstGeom>
          <a:solidFill>
            <a:srgbClr val="3949AB">
              <a:alpha val="70000"/>
            </a:srgbClr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09160" y="3922776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SIEM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3990"/>
                </a:solidFill>
              </a:rPr>
              <a:t>Highlights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0" y="1371600"/>
            <a:ext cx="1737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3990"/>
                </a:solidFill>
              </a:rPr>
              <a:t>10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502920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Requirement sections covered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03720" y="1371600"/>
            <a:ext cx="1737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0372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3990"/>
                </a:solidFill>
              </a:rPr>
              <a:t>3+3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690372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Attack + defence pairs, fully paired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0" y="2377440"/>
            <a:ext cx="1737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920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3990"/>
                </a:solidFill>
              </a:rPr>
              <a:t>91%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502920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Simulated block rate (DEF2 ~80%)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903720" y="2377440"/>
            <a:ext cx="1737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0372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3990"/>
                </a:solidFill>
              </a:rPr>
              <a:t>2 s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690372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Dashboard poll interval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29200" y="3429000"/>
            <a:ext cx="1298448" cy="1371600"/>
          </a:xfrm>
          <a:prstGeom prst="rect">
            <a:avLst/>
          </a:prstGeom>
          <a:solidFill>
            <a:srgbClr val="EEF0F8"/>
          </a:solidFill>
          <a:ln w="635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102352" y="349300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3990"/>
                </a:solidFill>
              </a:rPr>
              <a:t>Why local registry?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102352" y="3858768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</a:rPr>
              <a:t>Ethics &amp; reproducibility — fully offline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19088" y="3429000"/>
            <a:ext cx="1298448" cy="1371600"/>
          </a:xfrm>
          <a:prstGeom prst="rect">
            <a:avLst/>
          </a:prstGeom>
          <a:solidFill>
            <a:srgbClr val="EEF0F8"/>
          </a:solidFill>
          <a:ln w="635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92240" y="349300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3990"/>
                </a:solidFill>
              </a:rPr>
              <a:t>Are payloads safe?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92240" y="3858768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</a:rPr>
              <a:t>Write to /tmp only, one log event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808976" y="3429000"/>
            <a:ext cx="1298448" cy="1371600"/>
          </a:xfrm>
          <a:prstGeom prst="rect">
            <a:avLst/>
          </a:prstGeom>
          <a:solidFill>
            <a:srgbClr val="EEF0F8"/>
          </a:solidFill>
          <a:ln w="635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882128" y="349300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3990"/>
                </a:solidFill>
              </a:rPr>
              <a:t>Why 80% on DEF2?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882128" y="3858768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</a:rPr>
              <a:t>Dep. confusion timing window — tracked on SIEM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168" name="Google Shape;168;p5"/>
          <p:cNvSpPr txBox="1">
            <a:spLocks noGrp="1"/>
          </p:cNvSpPr>
          <p:nvPr>
            <p:ph type="title"/>
          </p:nvPr>
        </p:nvSpPr>
        <p:spPr>
          <a:xfrm>
            <a:off x="464100" y="5624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Resources</a:t>
            </a:r>
            <a:endParaRPr/>
          </a:p>
        </p:txBody>
      </p:sp>
      <p:sp>
        <p:nvSpPr>
          <p:cNvPr id="169" name="Google Shape;169;p5"/>
          <p:cNvSpPr txBox="1">
            <a:spLocks noGrp="1"/>
          </p:cNvSpPr>
          <p:nvPr>
            <p:ph type="body" idx="4294967295"/>
          </p:nvPr>
        </p:nvSpPr>
        <p:spPr>
          <a:xfrm>
            <a:off x="464100" y="13822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AutoNum type="arabicPeriod"/>
            </a:pPr>
            <a:r>
              <a:rPr lang="en-GB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Williams, L., Benedetti, G., Hamer, S., Paramitha, R., Rahman, I., Tamanna, M., Tystahl, G., Zahan, N., Morrison, P., Acar, Y., Cukier, M., Kästner, C., Kapravelos, A., Wermke, D., &amp; Enck, W. (2025). Research Directions in Software Supply Chain Security. </a:t>
            </a:r>
            <a:r>
              <a:rPr lang="en-GB" sz="1100" i="1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ACM Trans. Softw. Eng. Methodol.</a:t>
            </a:r>
            <a:r>
              <a:rPr lang="en-GB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100" i="1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r>
              <a:rPr lang="en-GB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(5), 146:1-146:38.</a:t>
            </a:r>
            <a:r>
              <a:rPr lang="en-GB" sz="1100">
                <a:solidFill>
                  <a:schemeClr val="accent5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https://doi.org/10.1145/3714464</a:t>
            </a:r>
            <a:endParaRPr sz="1100" u="sng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AutoNum type="arabicPeriod"/>
            </a:pPr>
            <a:r>
              <a:rPr lang="en-GB" sz="1100" i="1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[5]  OpenSSF, "OpenSSF Scorecard — Security Health Metrics for Open Source," 2022. [Online]. Available: https://securityscorecards.dev</a:t>
            </a:r>
            <a:endParaRPr sz="1100" i="1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32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endParaRPr sz="11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609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/>
        </p:nvSpPr>
        <p:spPr>
          <a:xfrm>
            <a:off x="2597850" y="2110642"/>
            <a:ext cx="3948300" cy="8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GB" sz="5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YOU!</a:t>
            </a:r>
            <a:endParaRPr sz="5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Macintosh PowerPoint</Application>
  <PresentationFormat>On-screen Show (16:9)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Roboto</vt:lpstr>
      <vt:lpstr>Geometric</vt:lpstr>
      <vt:lpstr>Supply Chain Attack Simulation &amp; Defence Platform 3 attack simulations  ·  3 defence tools  ·  live SIEM dashboard </vt:lpstr>
      <vt:lpstr>PowerPoint Presentation</vt:lpstr>
      <vt:lpstr>PowerPoint Presentation</vt:lpstr>
      <vt:lpstr>PowerPoint Presentation</vt:lpstr>
      <vt:lpstr>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Philips</cp:lastModifiedBy>
  <cp:revision>1</cp:revision>
  <dcterms:modified xsi:type="dcterms:W3CDTF">2026-04-14T08:55:14Z</dcterms:modified>
</cp:coreProperties>
</file>